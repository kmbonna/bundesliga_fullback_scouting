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strument Sans Medium" panose="020B0604020202020204" charset="0"/>
      <p:regular r:id="rId18"/>
    </p:embeddedFont>
    <p:embeddedFont>
      <p:font typeface="Instrument Sans Semi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028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0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569" y="751284"/>
            <a:ext cx="13139261" cy="133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Bundesliga Full-Back Scouting: Recruitment for Blackburn Rovers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5569" y="2508647"/>
            <a:ext cx="13139261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Identifying top-performing Bundesliga full-backs and assessing their suitability for Blackburn Rovers.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5569" y="3509605"/>
            <a:ext cx="8527018" cy="53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Introduction: Data Collection and Cleaning</a:t>
            </a:r>
            <a:endParaRPr lang="en-US" sz="3350" dirty="0"/>
          </a:p>
        </p:txBody>
      </p:sp>
      <p:sp>
        <p:nvSpPr>
          <p:cNvPr id="5" name="Shape 3"/>
          <p:cNvSpPr/>
          <p:nvPr/>
        </p:nvSpPr>
        <p:spPr>
          <a:xfrm>
            <a:off x="745569" y="4361498"/>
            <a:ext cx="4237673" cy="3116818"/>
          </a:xfrm>
          <a:prstGeom prst="roundRect">
            <a:avLst>
              <a:gd name="adj" fmla="val 28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92" y="4582120"/>
            <a:ext cx="639008" cy="63900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1928" y="4757857"/>
            <a:ext cx="287536" cy="2875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6192" y="5434132"/>
            <a:ext cx="278630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Initial Data Processing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966192" y="5894665"/>
            <a:ext cx="3796427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Loaded player and event files. Performed data type cleaning and initial inspection to ensure integrity.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5196245" y="4361498"/>
            <a:ext cx="4237792" cy="3116818"/>
          </a:xfrm>
          <a:prstGeom prst="roundRect">
            <a:avLst>
              <a:gd name="adj" fmla="val 28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868" y="4582120"/>
            <a:ext cx="639008" cy="63900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92604" y="4757857"/>
            <a:ext cx="287536" cy="2875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16868" y="5434132"/>
            <a:ext cx="3681413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Identifying Preferred Position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5416868" y="5894665"/>
            <a:ext cx="3796546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Inferred the preferred position for each player based on event counts, cross-validated with lineup data.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9647039" y="4361498"/>
            <a:ext cx="4237792" cy="3116818"/>
          </a:xfrm>
          <a:prstGeom prst="roundRect">
            <a:avLst>
              <a:gd name="adj" fmla="val 28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662" y="4582120"/>
            <a:ext cx="639008" cy="639008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43398" y="4757857"/>
            <a:ext cx="287536" cy="28753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67662" y="5434132"/>
            <a:ext cx="350008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 Integration and Filtering</a:t>
            </a:r>
            <a:endParaRPr lang="en-US" sz="2050" dirty="0"/>
          </a:p>
        </p:txBody>
      </p:sp>
      <p:sp>
        <p:nvSpPr>
          <p:cNvPr id="19" name="Text 11"/>
          <p:cNvSpPr/>
          <p:nvPr/>
        </p:nvSpPr>
        <p:spPr>
          <a:xfrm>
            <a:off x="9867662" y="5894665"/>
            <a:ext cx="3796546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Joined event KPIs to player data and filtered the dataset to focus exclusively on full-backs.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1935"/>
            <a:ext cx="124598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1: Collection of Actual Performance Data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43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focused on specific event types and key performance indicators (KPIs) to quantify the full-back's contribution.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99209"/>
            <a:ext cx="394620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General Purpose Metrics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85131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Minutes Played, Event Counts, Goals, Assists (</a:t>
            </a: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</a:t>
            </a: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xThreat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564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Offensive metrics: Touches, Passes, Dribbles, PxT KPI.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986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Ball Security: Ball Losses and Critical Ball Losses.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4081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Progression: Forwardness Angle and Forward Distance of Passes.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199209"/>
            <a:ext cx="414385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Full-Back Specific Metrics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8513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Crossing volume and success rates (types of crosses).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2935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Progressive Passes (10m+ in the X coordinate).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7357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Dribbles into the Final Third.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17790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Defensive KPIs: Duels, Interceptions, and PxT decrease prevented from opponents.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610778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values were normalized per 90 minutes for direct comparison.</a:t>
            </a:r>
            <a:endParaRPr lang="en-US" sz="175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4416"/>
            <a:ext cx="7756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2: Feature Engineering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068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crucial step involved engineering synthetic metrics to capture efficiency, risk, and reliability in play.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24877"/>
            <a:ext cx="411003" cy="4110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Efficiency Ratios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05241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Progressive Pass Efficiency and Carry to Progressive Pass Ratio.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824877"/>
            <a:ext cx="411003" cy="4110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Cross Value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05241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Calculated using PxT to quantify the threat generated from wide areas.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31844"/>
            <a:ext cx="411003" cy="4110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968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Risk/Safety Indexes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459379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Risk Index: Ball losses weighted against progressive actions. Safety Index: Pass accuracy weighted against ball losses.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5231844"/>
            <a:ext cx="411003" cy="4110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5968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Meta-Features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459379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Generated higher-order features from the initial engineered metrics for deeper analysis (e.g., </a:t>
            </a: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xGI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Cross to Pass Ratio).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097" y="587573"/>
            <a:ext cx="7280553" cy="52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3: Player Archetype Clustering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7097" y="1514356"/>
            <a:ext cx="8603218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KMeans clustering on engineered features yielded three distinct full-back archetypes for targeted scouting.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7097" y="1971437"/>
            <a:ext cx="8603218" cy="1347788"/>
          </a:xfrm>
          <a:prstGeom prst="roundRect">
            <a:avLst>
              <a:gd name="adj" fmla="val 522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57" y="1994297"/>
            <a:ext cx="671036" cy="1302068"/>
          </a:xfrm>
          <a:prstGeom prst="roundRect">
            <a:avLst>
              <a:gd name="adj" fmla="val 6412"/>
            </a:avLst>
          </a:prstGeom>
          <a:solidFill>
            <a:srgbClr val="E2E3E9"/>
          </a:solidFill>
          <a:ln/>
        </p:spPr>
      </p:sp>
      <p:sp>
        <p:nvSpPr>
          <p:cNvPr id="6" name="Text 4"/>
          <p:cNvSpPr/>
          <p:nvPr/>
        </p:nvSpPr>
        <p:spPr>
          <a:xfrm>
            <a:off x="815816" y="2488049"/>
            <a:ext cx="251579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48753" y="2162056"/>
            <a:ext cx="393656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Conservative/Low Involvement (Label 1)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48753" y="2591872"/>
            <a:ext cx="7550944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attack-to-defense ratio, low risk, high pass accuracy, and low average forward distance. Focus on security and safe decisions.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7097" y="3486983"/>
            <a:ext cx="8603218" cy="1347788"/>
          </a:xfrm>
          <a:prstGeom prst="roundRect">
            <a:avLst>
              <a:gd name="adj" fmla="val 522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957" y="3509843"/>
            <a:ext cx="671036" cy="1302068"/>
          </a:xfrm>
          <a:prstGeom prst="roundRect">
            <a:avLst>
              <a:gd name="adj" fmla="val 6412"/>
            </a:avLst>
          </a:prstGeom>
          <a:solidFill>
            <a:srgbClr val="E2E3E9"/>
          </a:solidFill>
          <a:ln/>
        </p:spPr>
      </p:sp>
      <p:sp>
        <p:nvSpPr>
          <p:cNvPr id="11" name="Text 9"/>
          <p:cNvSpPr/>
          <p:nvPr/>
        </p:nvSpPr>
        <p:spPr>
          <a:xfrm>
            <a:off x="815816" y="4003596"/>
            <a:ext cx="251579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48753" y="3677603"/>
            <a:ext cx="4072414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Traditional/High Defensive Load (Label 2)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48753" y="4107418"/>
            <a:ext cx="7550944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defensive metrics (PxT prevented, interceptions, duels). Balanced profiles, with a strong defensive inclination.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7097" y="5002530"/>
            <a:ext cx="8603218" cy="1347788"/>
          </a:xfrm>
          <a:prstGeom prst="roundRect">
            <a:avLst>
              <a:gd name="adj" fmla="val 522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57" y="5025390"/>
            <a:ext cx="671036" cy="1302068"/>
          </a:xfrm>
          <a:prstGeom prst="roundRect">
            <a:avLst>
              <a:gd name="adj" fmla="val 6412"/>
            </a:avLst>
          </a:prstGeom>
          <a:solidFill>
            <a:srgbClr val="E2E3E9"/>
          </a:solidFill>
          <a:ln/>
        </p:spPr>
      </p:sp>
      <p:sp>
        <p:nvSpPr>
          <p:cNvPr id="16" name="Text 14"/>
          <p:cNvSpPr/>
          <p:nvPr/>
        </p:nvSpPr>
        <p:spPr>
          <a:xfrm>
            <a:off x="815816" y="5519142"/>
            <a:ext cx="251579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48753" y="5193149"/>
            <a:ext cx="2797850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Attacking/Creative (Label 3)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48753" y="5622965"/>
            <a:ext cx="7550944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attack-to-defense ratio, high xGI, and greater forward distance won. Lower defensive contribution.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272" y="1552098"/>
            <a:ext cx="4764757" cy="517564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38676" y="6916460"/>
            <a:ext cx="13204627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interesting finding: Full-backs from bigger teams show higher </a:t>
            </a:r>
            <a:r>
              <a:rPr lang="en-US" sz="130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critical ball losses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due to high-risk pressing, often leading to immediate counter-attacks when possession is lost in advanced areas.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7097" y="6727746"/>
            <a:ext cx="22860" cy="914162"/>
          </a:xfrm>
          <a:prstGeom prst="rect">
            <a:avLst/>
          </a:prstGeom>
          <a:solidFill>
            <a:srgbClr val="50546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383" y="579477"/>
            <a:ext cx="854475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4: Development of Thematic Indexes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1383" y="1445419"/>
            <a:ext cx="1344763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thematic indexes were created using mean normalized scores of key features to quantify a player's capability across different functional areas.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1383" y="1905714"/>
            <a:ext cx="675799" cy="1013698"/>
          </a:xfrm>
          <a:prstGeom prst="roundRect">
            <a:avLst>
              <a:gd name="adj" fmla="val 36003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600" y="2285881"/>
            <a:ext cx="253365" cy="253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6132" y="2074664"/>
            <a:ext cx="21120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Theme 1: Passing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36132" y="2439948"/>
            <a:ext cx="1260288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Metrics: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Pass Accuracy, Cross Accuracy, Successful Progressive Passes P90. (</a:t>
            </a: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passing ability and precision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1383" y="3088362"/>
            <a:ext cx="675799" cy="1013698"/>
          </a:xfrm>
          <a:prstGeom prst="roundRect">
            <a:avLst>
              <a:gd name="adj" fmla="val 36003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600" y="3468529"/>
            <a:ext cx="253365" cy="2533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6132" y="3257312"/>
            <a:ext cx="260199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Theme 2: Progressiveness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36132" y="3622596"/>
            <a:ext cx="1260288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Metrics: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Prog Passes P90, Carry vs. Pass Progress Ratio, Avg. Forward Distance, Carries into Final Third P90. (</a:t>
            </a: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Willingness and success in advancing play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1383" y="4271010"/>
            <a:ext cx="675799" cy="1013698"/>
          </a:xfrm>
          <a:prstGeom prst="roundRect">
            <a:avLst>
              <a:gd name="adj" fmla="val 36003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600" y="4651177"/>
            <a:ext cx="253365" cy="2533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36132" y="4439960"/>
            <a:ext cx="21120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Theme 3: Defending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36132" y="4805243"/>
            <a:ext cx="1260288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Metrics: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Ground Duels Won P90, Interceptions P90, PxT Prevented P90, Ball Recoveries P90. (</a:t>
            </a: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Volume and quality of defensive actions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91383" y="5453658"/>
            <a:ext cx="675799" cy="1013698"/>
          </a:xfrm>
          <a:prstGeom prst="roundRect">
            <a:avLst>
              <a:gd name="adj" fmla="val 36003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600" y="5833824"/>
            <a:ext cx="253365" cy="2533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36132" y="5622607"/>
            <a:ext cx="26455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Theme 4: Chance Creation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36132" y="5987891"/>
            <a:ext cx="1260288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Metrics: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XGI P90, Cross Value (PxT), Goal Involvement P90. (</a:t>
            </a: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Generating threat and expected goals/assists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91383" y="6636306"/>
            <a:ext cx="675799" cy="1013698"/>
          </a:xfrm>
          <a:prstGeom prst="roundRect">
            <a:avLst>
              <a:gd name="adj" fmla="val 36003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600" y="7016472"/>
            <a:ext cx="253365" cy="2533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36132" y="6805255"/>
            <a:ext cx="21120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Theme 5: Security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436132" y="7170539"/>
            <a:ext cx="1260288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Metrics: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Inverse Ball Losses P90, Inverse Critical Losses P90, Safety Index. (</a:t>
            </a: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Reliability and ball retention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1069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5: Radar Chart Validation of Archetypes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Radar charts visualize how each cluster profile performs across the five thematic indexes, confirming the clustering logic.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96835" y="1315283"/>
            <a:ext cx="255150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Conservative / Low Involvement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96835" y="1641277"/>
            <a:ext cx="6780014" cy="762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Safety-focused, low Chance Creation, and low Progressiveness.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Examples</a:t>
            </a:r>
            <a:r>
              <a:rPr lang="en-US" sz="13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Ramy Bensebaini, Philipp Max.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15" y="2279853"/>
            <a:ext cx="6780014" cy="49640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61171" y="1315283"/>
            <a:ext cx="262782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</a:rPr>
              <a:t>Traditional</a:t>
            </a: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/ High Defensive Load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61171" y="1641277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Defending metrics with good all-around performance.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130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Examples</a:t>
            </a:r>
            <a:r>
              <a:rPr lang="en-US" sz="13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Benjamin Henrichs, Noussair Mazraoui, and surprisingly, Alphonso Davies.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550" y="2279852"/>
            <a:ext cx="6780014" cy="49640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78221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5 Continued: Radar Chart Validation of Archetypes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773680" y="1055757"/>
            <a:ext cx="248221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Attacking / Creative Archetype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2773680" y="1360967"/>
            <a:ext cx="11473948" cy="63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Characterized by high Chance Creation and Progressiveness, with generally lower Security. 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1350" i="1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35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Examples</a:t>
            </a:r>
            <a:r>
              <a:rPr lang="en-US" sz="13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Jeremie Frimpong, Alejandro Grimaldo.</a:t>
            </a:r>
            <a:endParaRPr lang="en-US" sz="13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52EF60-1000-447A-B9F5-713CB87B98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59"/>
          <a:stretch/>
        </p:blipFill>
        <p:spPr>
          <a:xfrm>
            <a:off x="2744517" y="2207758"/>
            <a:ext cx="9141365" cy="54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9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924" y="571143"/>
            <a:ext cx="10209133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6: Blackurn Rovers' Full-Back Needs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5924" y="1634014"/>
            <a:ext cx="13178552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Blackburn's 3-4-1-2 formation places high tactical demands on the full-backs (or wing-backs).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672" y="2205454"/>
            <a:ext cx="311110" cy="3111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9937" y="2199084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Role Demands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99937" y="2647593"/>
            <a:ext cx="3546038" cy="99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Must provide </a:t>
            </a: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width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be primary contributors to possession </a:t>
            </a: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progression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922" y="2205454"/>
            <a:ext cx="311110" cy="311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79187" y="2199084"/>
            <a:ext cx="2983230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Defensive Responsibility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879187" y="2647593"/>
            <a:ext cx="3546038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Requires quick recovery runs to form a solid back five out of possession.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2173" y="2205454"/>
            <a:ext cx="311110" cy="3111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58438" y="2199084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Chance Creation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358438" y="2647593"/>
            <a:ext cx="3546038" cy="99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Often relied upon for crosses and cutbacks as a main source of attack creation.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25924" y="3954185"/>
            <a:ext cx="3135749" cy="388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Desired Player Profile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725924" y="4664786"/>
            <a:ext cx="13178552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high-involvement player who excels in Progression, Chance Creation (</a:t>
            </a:r>
            <a:r>
              <a:rPr lang="en-US" sz="160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xGI and Cross Quality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), Defensive Work Rate, and Security (minimal high-value ball losses).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25924" y="5551051"/>
            <a:ext cx="13178552" cy="2107406"/>
          </a:xfrm>
          <a:prstGeom prst="roundRect">
            <a:avLst>
              <a:gd name="adj" fmla="val 4134"/>
            </a:avLst>
          </a:prstGeom>
          <a:solidFill>
            <a:srgbClr val="D4D5D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331" y="5834896"/>
            <a:ext cx="324088" cy="2591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4826" y="5810250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Initial Shortlist Filters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1464826" y="6341745"/>
            <a:ext cx="12232243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Minimum playing minutes (above 25th percentile) for reliable assessment.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4826" y="6746081"/>
            <a:ext cx="12232243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 under 30 to ensure longevity and potential resale value.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4826" y="7150418"/>
            <a:ext cx="12232243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Usually Involved, Low Involvement players are excluded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4364"/>
            <a:ext cx="11916132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7: Recommendation Criteria &amp; Scoring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075" y="1785580"/>
            <a:ext cx="13044249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Players were evaluated across two primary layers: Role Fit and Quality, utilizing the thematic indexes.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075" y="2742843"/>
            <a:ext cx="6408777" cy="2317909"/>
          </a:xfrm>
          <a:prstGeom prst="roundRect">
            <a:avLst>
              <a:gd name="adj" fmla="val 410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3555" y="2773323"/>
            <a:ext cx="6347817" cy="226576"/>
          </a:xfrm>
          <a:prstGeom prst="roundRect">
            <a:avLst>
              <a:gd name="adj" fmla="val 25865"/>
            </a:avLst>
          </a:prstGeom>
          <a:solidFill>
            <a:srgbClr val="E2E3E9"/>
          </a:solidFill>
          <a:ln/>
        </p:spPr>
      </p:sp>
      <p:sp>
        <p:nvSpPr>
          <p:cNvPr id="6" name="Text 4"/>
          <p:cNvSpPr/>
          <p:nvPr/>
        </p:nvSpPr>
        <p:spPr>
          <a:xfrm>
            <a:off x="1050131" y="3226475"/>
            <a:ext cx="2840117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Layer 1: </a:t>
            </a:r>
            <a:r>
              <a:rPr lang="en-US" sz="2200" dirty="0" err="1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RoleFit</a:t>
            </a: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Score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0131" y="3716417"/>
            <a:ext cx="5894665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Measures performance against the player's specific cluster (archetype). E.g.,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Attacking Creatives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are weighted more on Chance Creation.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428" y="2402919"/>
            <a:ext cx="6408896" cy="2657832"/>
          </a:xfrm>
          <a:prstGeom prst="roundRect">
            <a:avLst>
              <a:gd name="adj" fmla="val 358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8908" y="2433399"/>
            <a:ext cx="6347936" cy="226576"/>
          </a:xfrm>
          <a:prstGeom prst="roundRect">
            <a:avLst>
              <a:gd name="adj" fmla="val 25865"/>
            </a:avLst>
          </a:prstGeom>
          <a:solidFill>
            <a:srgbClr val="E2E3E9"/>
          </a:solidFill>
          <a:ln/>
        </p:spPr>
      </p:sp>
      <p:sp>
        <p:nvSpPr>
          <p:cNvPr id="10" name="Text 8"/>
          <p:cNvSpPr/>
          <p:nvPr/>
        </p:nvSpPr>
        <p:spPr>
          <a:xfrm>
            <a:off x="7685484" y="2886551"/>
            <a:ext cx="2868692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Layer 2: Quality Score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5484" y="3376493"/>
            <a:ext cx="5894784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Measures overall performance using equal-weighted thematic indexes against all full-backs in the dataset.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075" y="5627251"/>
            <a:ext cx="6408777" cy="1977985"/>
          </a:xfrm>
          <a:prstGeom prst="roundRect">
            <a:avLst>
              <a:gd name="adj" fmla="val 481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3555" y="5657731"/>
            <a:ext cx="6347817" cy="226576"/>
          </a:xfrm>
          <a:prstGeom prst="roundRect">
            <a:avLst>
              <a:gd name="adj" fmla="val 25865"/>
            </a:avLst>
          </a:prstGeom>
          <a:solidFill>
            <a:srgbClr val="E2E3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0131" y="6110883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Average Score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0131" y="6600825"/>
            <a:ext cx="5894665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Calculation of the combined score for initial ranking.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428" y="5287328"/>
            <a:ext cx="6408896" cy="2317909"/>
          </a:xfrm>
          <a:prstGeom prst="roundRect">
            <a:avLst>
              <a:gd name="adj" fmla="val 410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8908" y="5317808"/>
            <a:ext cx="6347936" cy="226576"/>
          </a:xfrm>
          <a:prstGeom prst="roundRect">
            <a:avLst>
              <a:gd name="adj" fmla="val 25865"/>
            </a:avLst>
          </a:prstGeom>
          <a:solidFill>
            <a:srgbClr val="E2E3E9"/>
          </a:solidFill>
          <a:ln/>
        </p:spPr>
      </p:sp>
      <p:sp>
        <p:nvSpPr>
          <p:cNvPr id="18" name="Text 16"/>
          <p:cNvSpPr/>
          <p:nvPr/>
        </p:nvSpPr>
        <p:spPr>
          <a:xfrm>
            <a:off x="7685484" y="5770959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Value Adjustment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85484" y="6260902"/>
            <a:ext cx="5894784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Scores are slightly adjusted based on the player's market value (Transfermarkt data) to identify optimal value for money.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60474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Recommendations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623655"/>
            <a:ext cx="13187124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Final recommendations balance performance, role fit, and market value.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262783"/>
            <a:ext cx="4292679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Attacking Creative Full-Backs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21638" y="2958584"/>
            <a:ext cx="13187124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Franck </a:t>
            </a:r>
            <a:r>
              <a:rPr lang="en-US" sz="16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Honorat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the recommended target. While Jeremy Frimpong scored higher (0.721), his high market value makes Honorat a better option, offering 84% of Frimpong's performance index at only 25% of the estimated price.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3850362"/>
            <a:ext cx="7879080" cy="563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1638" y="4646176"/>
            <a:ext cx="13187124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1638" y="5177682"/>
            <a:ext cx="3130153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Traditional Full-Backs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21638" y="5795361"/>
            <a:ext cx="13187124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Maximilian Mittelstädt is the top target. Omar Traoré ranks second; his significantly cheaper price elevated his adjusted score past several higher-scoring players, making him an excellent budget-friendly option.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38" y="6686288"/>
            <a:ext cx="6758940" cy="5638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D8CED3-D863-47BA-89FC-6201DFB65778}"/>
              </a:ext>
            </a:extLst>
          </p:cNvPr>
          <p:cNvSpPr txBox="1"/>
          <p:nvPr/>
        </p:nvSpPr>
        <p:spPr>
          <a:xfrm>
            <a:off x="721638" y="7481251"/>
            <a:ext cx="7603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More Detailed Numerical Results on Shortlisted Players can be found in the Shortlist sheet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6360"/>
            <a:ext cx="106466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Scope for Improvement and Constraints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87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summary of current limitations and real-world constraints to be considered.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63635"/>
            <a:ext cx="491335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Limitations of Current Analysis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0157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analysis is based on </a:t>
            </a:r>
            <a:r>
              <a:rPr lang="en-US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Event Data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More granular data would enhance accuracy.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2084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Physical Data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missing. EFL requires high intensity, duels, and crossing; quantifying intensity is crucial.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2594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Tracking Data/Off-Ball Movement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needed to quantify tactical elements like width, overlap frequency, recovery runs, and pressing distance.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363635"/>
            <a:ext cx="37468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Constraints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40157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Realistic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Budgetary Constraints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must dictate final selection.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2084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Player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Injury Records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usually need review.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6303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League Adaptation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potential (Bundesliga to Championship).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06813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Detailed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Tactical Fit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specific match-day requirements and opposing teams.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1208</Words>
  <Application>Microsoft Office PowerPoint</Application>
  <PresentationFormat>Custom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Instrument Sans Semi Bold</vt:lpstr>
      <vt:lpstr>Arial</vt:lpstr>
      <vt:lpstr>Instrument Sans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Bonna, Karim</cp:lastModifiedBy>
  <cp:revision>4</cp:revision>
  <dcterms:created xsi:type="dcterms:W3CDTF">2025-11-04T05:03:55Z</dcterms:created>
  <dcterms:modified xsi:type="dcterms:W3CDTF">2025-11-04T05:33:35Z</dcterms:modified>
</cp:coreProperties>
</file>